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73" r:id="rId11"/>
    <p:sldId id="272" r:id="rId12"/>
    <p:sldId id="271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436693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F4E79"/>
                </a:solidFill>
              </a:rPr>
              <a:t>Cloud Based Big Data Processing and Predictive Analytics for 5G O RAN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6035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82828"/>
                </a:solidFill>
              </a:defRPr>
            </a:pPr>
            <a:r>
              <a:t>Using the NetsLab 5G O RAN IDD Dataset and Amazon Web Services</a:t>
            </a:r>
          </a:p>
          <a:p>
            <a:pPr>
              <a:defRPr sz="1800" b="0">
                <a:solidFill>
                  <a:srgbClr val="282828"/>
                </a:solidFill>
              </a:defRPr>
            </a:pPr>
            <a:r>
              <a:t>Final Project Presentation</a:t>
            </a:r>
          </a:p>
          <a:p>
            <a:pPr>
              <a:defRPr sz="1800" b="0">
                <a:solidFill>
                  <a:srgbClr val="282828"/>
                </a:solidFill>
              </a:defRPr>
            </a:pPr>
            <a:r>
              <a:t>Alireza Eslamikhah</a:t>
            </a:r>
          </a:p>
          <a:p>
            <a:pPr>
              <a:defRPr sz="1800" b="0">
                <a:solidFill>
                  <a:srgbClr val="282828"/>
                </a:solidFill>
              </a:defRPr>
            </a:pPr>
            <a:r>
              <a:t>Student Number: 200550614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Course: Big Data Analytics and Cloud Computing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Platform: Amazon S3, EC2, and EMR Serverless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Models: Random Forest for network flow and radio telemetry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Goal: distinguish attack traffic from benign traffic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00800"/>
            <a:ext cx="11430000" cy="2743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Presentation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1. Problem motivation and 5G O RAN security context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2. Dataset source, scale, and Big Data characteristics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3. End to end cloud pipeline and AWS implementation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4. Spark based packet processing and Parquet conversion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5. Network flow Random Forest model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6. Radio telemetry Random Forest model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7. Final results, cost,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00800"/>
            <a:ext cx="11430000" cy="2743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Why Anomaly Detection Matters in 5G O 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5G networks serve many devices, applications, and software defined functions.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O RAN opens the radio access network through disaggregated components such as O CU, O DU, O RU, and the RIC.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Open interfaces improve flexibility, but they also increase the attack surface.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Binary attack versus benign detection is a practical first step for operational monitoring.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The dataset includes DDoS, DoS, brute force, probe, and web attacks.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Random Forest is suitable because it handles mixed network features well, trains quickly, and is easy to interpret.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914400" cy="822960"/>
          </a:xfrm>
          <a:prstGeom prst="roundRect">
            <a:avLst/>
          </a:prstGeom>
          <a:solidFill>
            <a:srgbClr val="EB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>
                <a:solidFill>
                  <a:schemeClr val="tx1"/>
                </a:solidFill>
              </a:rPr>
              <a:t>User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Equipment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58100" y="1645920"/>
            <a:ext cx="914400" cy="822960"/>
          </a:xfrm>
          <a:prstGeom prst="roundRect">
            <a:avLst/>
          </a:prstGeom>
          <a:solidFill>
            <a:srgbClr val="EB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>
                <a:solidFill>
                  <a:schemeClr val="tx1"/>
                </a:solidFill>
              </a:rPr>
              <a:t>O RU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80206" y="1645920"/>
            <a:ext cx="914400" cy="822960"/>
          </a:xfrm>
          <a:prstGeom prst="roundRect">
            <a:avLst/>
          </a:prstGeom>
          <a:solidFill>
            <a:srgbClr val="EB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>
                <a:solidFill>
                  <a:schemeClr val="tx1"/>
                </a:solidFill>
              </a:rPr>
              <a:t>O DU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668780"/>
            <a:ext cx="914400" cy="822960"/>
          </a:xfrm>
          <a:prstGeom prst="roundRect">
            <a:avLst/>
          </a:prstGeom>
          <a:solidFill>
            <a:srgbClr val="EB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>
                <a:solidFill>
                  <a:schemeClr val="tx1"/>
                </a:solidFill>
              </a:rPr>
              <a:t>O CU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155680" y="1645920"/>
            <a:ext cx="914400" cy="822960"/>
          </a:xfrm>
          <a:prstGeom prst="roundRect">
            <a:avLst/>
          </a:prstGeom>
          <a:solidFill>
            <a:srgbClr val="EB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dirty="0">
                <a:solidFill>
                  <a:schemeClr val="tx1"/>
                </a:solidFill>
              </a:rPr>
              <a:t>5G Core</a:t>
            </a:r>
          </a:p>
        </p:txBody>
      </p:sp>
      <p:sp>
        <p:nvSpPr>
          <p:cNvPr id="9" name="Chevron 8"/>
          <p:cNvSpPr/>
          <p:nvPr/>
        </p:nvSpPr>
        <p:spPr>
          <a:xfrm>
            <a:off x="7315200" y="1901952"/>
            <a:ext cx="320040" cy="292608"/>
          </a:xfrm>
          <a:prstGeom prst="chevron">
            <a:avLst/>
          </a:prstGeom>
          <a:solidFill>
            <a:srgbClr val="C0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8503920" y="1901952"/>
            <a:ext cx="320040" cy="292608"/>
          </a:xfrm>
          <a:prstGeom prst="chevron">
            <a:avLst/>
          </a:prstGeom>
          <a:solidFill>
            <a:srgbClr val="C0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9692640" y="1901952"/>
            <a:ext cx="320040" cy="292608"/>
          </a:xfrm>
          <a:prstGeom prst="chevron">
            <a:avLst/>
          </a:prstGeom>
          <a:solidFill>
            <a:srgbClr val="C0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10881360" y="1901952"/>
            <a:ext cx="320040" cy="292608"/>
          </a:xfrm>
          <a:prstGeom prst="chevron">
            <a:avLst/>
          </a:prstGeom>
          <a:solidFill>
            <a:srgbClr val="C0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412480" y="3017520"/>
            <a:ext cx="1828800" cy="822960"/>
          </a:xfrm>
          <a:prstGeom prst="roundRect">
            <a:avLst/>
          </a:prstGeom>
          <a:solidFill>
            <a:srgbClr val="F4ECE1"/>
          </a:solidFill>
          <a:ln>
            <a:solidFill>
              <a:srgbClr val="C05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Near Real Time RIC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144000" y="2514600"/>
            <a:ext cx="365760" cy="411480"/>
          </a:xfrm>
          <a:prstGeom prst="downArrow">
            <a:avLst/>
          </a:prstGeom>
          <a:solidFill>
            <a:srgbClr val="C0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17920" y="406908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Simplified 5G O RAN view used to explain the monitored environment.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6400800"/>
            <a:ext cx="11430000" cy="2743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Dataset Source and Repository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2828"/>
                </a:solidFill>
              </a:defRPr>
            </a:pPr>
            <a:r>
              <a:t>Source: NetsLab 5G O RAN intrusion detection dataset collected from a live testbed.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Repository includes raw packet captures, packet CSV exports, network flow records, and lower layer radio measurements.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The total repository size measured locally was 135.93 GB.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2743200"/>
          <a:ext cx="48463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82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Count / Size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Total files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320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PCAP + PCAPNG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129.08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CSV files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110 files, 6.62 GB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Prepared databases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4 files, 221.32 MB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Network flow records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1,723,817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Radio telemetry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45,244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 descr="storage_by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17357"/>
            <a:ext cx="5760720" cy="32404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5532120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Most of the repository volume comes from raw PCAP and PCAPNG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00800"/>
            <a:ext cx="11430000" cy="2743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Why This Dataset Qualifies as Big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212080" cy="1645920"/>
          </a:xfrm>
          <a:prstGeom prst="roundRect">
            <a:avLst/>
          </a:prstGeom>
          <a:solidFill>
            <a:srgbClr val="F0F5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rPr>
                <a:solidFill>
                  <a:schemeClr val="tx1"/>
                </a:solidFill>
              </a:rPr>
              <a:t>Volume</a:t>
            </a:r>
          </a:p>
          <a:p>
            <a:pPr>
              <a:defRPr sz="1300"/>
            </a:pPr>
            <a:r>
              <a:rPr>
                <a:solidFill>
                  <a:schemeClr val="tx1"/>
                </a:solidFill>
              </a:rPr>
              <a:t>135.93 GB repository size, including 129.08 GB of raw packet captures and 28.8 million packet rows processed in Spark.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1645920"/>
          </a:xfrm>
          <a:prstGeom prst="roundRect">
            <a:avLst/>
          </a:prstGeom>
          <a:solidFill>
            <a:srgbClr val="F0F5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rPr dirty="0">
                <a:solidFill>
                  <a:schemeClr val="tx1"/>
                </a:solidFill>
              </a:rPr>
              <a:t>Variety</a:t>
            </a:r>
          </a:p>
          <a:p>
            <a:pPr>
              <a:defRPr sz="1300"/>
            </a:pPr>
            <a:r>
              <a:rPr dirty="0">
                <a:solidFill>
                  <a:schemeClr val="tx1"/>
                </a:solidFill>
              </a:rPr>
              <a:t>Multiple data forms: PCAP, PCAPNG, packet CSV, network flow CSV, SQLite databases, text logs, and radio telemetry.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0"/>
            <a:ext cx="5212080" cy="1645920"/>
          </a:xfrm>
          <a:prstGeom prst="roundRect">
            <a:avLst/>
          </a:prstGeom>
          <a:solidFill>
            <a:srgbClr val="F0F5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rPr>
                <a:solidFill>
                  <a:schemeClr val="tx1"/>
                </a:solidFill>
              </a:rPr>
              <a:t>Velocity</a:t>
            </a:r>
          </a:p>
          <a:p>
            <a:pPr>
              <a:defRPr sz="1300"/>
            </a:pPr>
            <a:r>
              <a:rPr>
                <a:solidFill>
                  <a:schemeClr val="tx1"/>
                </a:solidFill>
              </a:rPr>
              <a:t>Traffic and radio data are generated continuously in operational networks. The study used offline snapshots, but the design targets scalable processing.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657600"/>
            <a:ext cx="5212080" cy="1645920"/>
          </a:xfrm>
          <a:prstGeom prst="roundRect">
            <a:avLst/>
          </a:prstGeom>
          <a:solidFill>
            <a:srgbClr val="F0F5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rPr>
                <a:solidFill>
                  <a:schemeClr val="tx1"/>
                </a:solidFill>
              </a:rPr>
              <a:t>Veracity</a:t>
            </a:r>
          </a:p>
          <a:p>
            <a:pPr>
              <a:defRPr sz="1300"/>
            </a:pPr>
            <a:r>
              <a:rPr>
                <a:solidFill>
                  <a:schemeClr val="tx1"/>
                </a:solidFill>
              </a:rPr>
              <a:t>Label imbalance, schema differences, and cross layer alignment issues required careful cleaning and scope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00800"/>
            <a:ext cx="11430000" cy="2743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Dataset Structures Used in the Final Study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55778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Network flow dataset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1,723,817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traffic_type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Dropped identifiers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uid, src_ip, dst_ip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Dropped leakage fields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attack_category, attack_type, history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Examples of retained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src_port, dst_port, proto, service, duration, bytes, packets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280160"/>
          <a:ext cx="5486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Radio dataset</a:t>
                      </a:r>
                    </a:p>
                  </a:txBody>
                  <a:tcPr>
                    <a:solidFill>
                      <a:srgbClr val="C050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C050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45,244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Selected numeric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traffic_type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Excluded identifiers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timestamp, ue_id, cellid, rnti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Examples of retained fields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dlBytes, ulBytes, dlMcs, rsrp, rsrq, sinr, cqi, puschSnr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235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The project used one structured network table and one structured radio table for the final ML experiments.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00800"/>
            <a:ext cx="11430000" cy="2743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End to End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463040"/>
            <a:ext cx="1828800" cy="914400"/>
          </a:xfrm>
          <a:prstGeom prst="roundRect">
            <a:avLst/>
          </a:prstGeom>
          <a:solidFill>
            <a:srgbClr val="E7EF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>
                <a:solidFill>
                  <a:schemeClr val="tx1"/>
                </a:solidFill>
              </a:rPr>
              <a:t>Local profiling</a:t>
            </a:r>
          </a:p>
          <a:p>
            <a:pPr algn="ctr">
              <a:defRPr sz="1100"/>
            </a:pPr>
            <a:r>
              <a:rPr>
                <a:solidFill>
                  <a:schemeClr val="tx1"/>
                </a:solidFill>
              </a:rPr>
              <a:t>Inventory</a:t>
            </a:r>
          </a:p>
          <a:p>
            <a:pPr algn="ctr">
              <a:defRPr sz="1100"/>
            </a:pPr>
            <a:r>
              <a:rPr>
                <a:solidFill>
                  <a:schemeClr val="tx1"/>
                </a:solidFill>
              </a:rPr>
              <a:t>Schema grouping</a:t>
            </a:r>
          </a:p>
          <a:p>
            <a:pPr algn="ctr">
              <a:defRPr sz="1100"/>
            </a:pPr>
            <a:r>
              <a:rPr>
                <a:solidFill>
                  <a:schemeClr val="tx1"/>
                </a:solidFill>
              </a:rPr>
              <a:t>Data inspection</a:t>
            </a:r>
          </a:p>
        </p:txBody>
      </p:sp>
      <p:sp>
        <p:nvSpPr>
          <p:cNvPr id="4" name="Chevron 3"/>
          <p:cNvSpPr/>
          <p:nvPr/>
        </p:nvSpPr>
        <p:spPr>
          <a:xfrm>
            <a:off x="2148840" y="1719072"/>
            <a:ext cx="201168" cy="320040"/>
          </a:xfrm>
          <a:prstGeom prst="chevron">
            <a:avLst/>
          </a:prstGeom>
          <a:solidFill>
            <a:srgbClr val="C0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240280" y="1463040"/>
            <a:ext cx="1828800" cy="914400"/>
          </a:xfrm>
          <a:prstGeom prst="roundRect">
            <a:avLst/>
          </a:prstGeom>
          <a:solidFill>
            <a:srgbClr val="E7EF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>
                <a:solidFill>
                  <a:schemeClr val="tx1"/>
                </a:solidFill>
              </a:rPr>
              <a:t>Cloud ingestion</a:t>
            </a:r>
          </a:p>
          <a:p>
            <a:pPr algn="ctr">
              <a:defRPr sz="1100"/>
            </a:pPr>
            <a:r>
              <a:rPr>
                <a:solidFill>
                  <a:schemeClr val="tx1"/>
                </a:solidFill>
              </a:rPr>
              <a:t>Temporary EC2</a:t>
            </a:r>
          </a:p>
          <a:p>
            <a:pPr algn="ctr">
              <a:defRPr sz="1100"/>
            </a:pPr>
            <a:r>
              <a:rPr>
                <a:solidFill>
                  <a:schemeClr val="tx1"/>
                </a:solidFill>
              </a:rPr>
              <a:t>Download from source</a:t>
            </a:r>
          </a:p>
          <a:p>
            <a:pPr algn="ctr">
              <a:defRPr sz="1100"/>
            </a:pPr>
            <a:r>
              <a:rPr>
                <a:solidFill>
                  <a:schemeClr val="tx1"/>
                </a:solidFill>
              </a:rPr>
              <a:t>Upload to S3</a:t>
            </a:r>
          </a:p>
        </p:txBody>
      </p:sp>
      <p:sp>
        <p:nvSpPr>
          <p:cNvPr id="6" name="Chevron 5"/>
          <p:cNvSpPr/>
          <p:nvPr/>
        </p:nvSpPr>
        <p:spPr>
          <a:xfrm>
            <a:off x="4069080" y="1719072"/>
            <a:ext cx="201168" cy="320040"/>
          </a:xfrm>
          <a:prstGeom prst="chevron">
            <a:avLst/>
          </a:prstGeom>
          <a:solidFill>
            <a:srgbClr val="C0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160520" y="1463040"/>
            <a:ext cx="1828800" cy="914400"/>
          </a:xfrm>
          <a:prstGeom prst="roundRect">
            <a:avLst/>
          </a:prstGeom>
          <a:solidFill>
            <a:srgbClr val="E7EF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>
                <a:solidFill>
                  <a:schemeClr val="tx1"/>
                </a:solidFill>
              </a:rPr>
              <a:t>Spark processing</a:t>
            </a:r>
          </a:p>
          <a:p>
            <a:pPr algn="ctr">
              <a:defRPr sz="1100"/>
            </a:pPr>
            <a:r>
              <a:rPr>
                <a:solidFill>
                  <a:schemeClr val="tx1"/>
                </a:solidFill>
              </a:rPr>
              <a:t>EMR Serverless</a:t>
            </a:r>
          </a:p>
          <a:p>
            <a:pPr algn="ctr">
              <a:defRPr sz="1100"/>
            </a:pPr>
            <a:r>
              <a:rPr>
                <a:solidFill>
                  <a:schemeClr val="tx1"/>
                </a:solidFill>
              </a:rPr>
              <a:t>Read raw packet CSV</a:t>
            </a:r>
          </a:p>
          <a:p>
            <a:pPr algn="ctr">
              <a:defRPr sz="1100"/>
            </a:pPr>
            <a:r>
              <a:rPr>
                <a:solidFill>
                  <a:schemeClr val="tx1"/>
                </a:solidFill>
              </a:rPr>
              <a:t>Clean and enrich</a:t>
            </a:r>
          </a:p>
        </p:txBody>
      </p:sp>
      <p:sp>
        <p:nvSpPr>
          <p:cNvPr id="8" name="Chevron 7"/>
          <p:cNvSpPr/>
          <p:nvPr/>
        </p:nvSpPr>
        <p:spPr>
          <a:xfrm>
            <a:off x="5989320" y="1719072"/>
            <a:ext cx="201168" cy="320040"/>
          </a:xfrm>
          <a:prstGeom prst="chevron">
            <a:avLst/>
          </a:prstGeom>
          <a:solidFill>
            <a:srgbClr val="C0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80760" y="1463040"/>
            <a:ext cx="1828800" cy="914400"/>
          </a:xfrm>
          <a:prstGeom prst="roundRect">
            <a:avLst/>
          </a:prstGeom>
          <a:solidFill>
            <a:srgbClr val="E7EF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>
                <a:solidFill>
                  <a:schemeClr val="tx1"/>
                </a:solidFill>
              </a:rPr>
              <a:t>Curated storage</a:t>
            </a:r>
          </a:p>
          <a:p>
            <a:pPr algn="ctr">
              <a:defRPr sz="1100"/>
            </a:pPr>
            <a:r>
              <a:rPr>
                <a:solidFill>
                  <a:schemeClr val="tx1"/>
                </a:solidFill>
              </a:rPr>
              <a:t>Parquet partitions</a:t>
            </a:r>
          </a:p>
          <a:p>
            <a:pPr algn="ctr">
              <a:defRPr sz="1100"/>
            </a:pPr>
            <a:r>
              <a:rPr>
                <a:solidFill>
                  <a:schemeClr val="tx1"/>
                </a:solidFill>
              </a:rPr>
              <a:t>S3 processed zone</a:t>
            </a:r>
          </a:p>
        </p:txBody>
      </p:sp>
      <p:sp>
        <p:nvSpPr>
          <p:cNvPr id="10" name="Chevron 9"/>
          <p:cNvSpPr/>
          <p:nvPr/>
        </p:nvSpPr>
        <p:spPr>
          <a:xfrm>
            <a:off x="7909560" y="1719072"/>
            <a:ext cx="201168" cy="320040"/>
          </a:xfrm>
          <a:prstGeom prst="chevron">
            <a:avLst/>
          </a:prstGeom>
          <a:solidFill>
            <a:srgbClr val="C0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01000" y="1463040"/>
            <a:ext cx="1828800" cy="914400"/>
          </a:xfrm>
          <a:prstGeom prst="roundRect">
            <a:avLst/>
          </a:prstGeom>
          <a:solidFill>
            <a:srgbClr val="E7EF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>
                <a:solidFill>
                  <a:schemeClr val="tx1"/>
                </a:solidFill>
              </a:rPr>
              <a:t>Machine learning</a:t>
            </a:r>
          </a:p>
          <a:p>
            <a:pPr algn="ctr">
              <a:defRPr sz="1100"/>
            </a:pPr>
            <a:r>
              <a:rPr>
                <a:solidFill>
                  <a:schemeClr val="tx1"/>
                </a:solidFill>
              </a:rPr>
              <a:t>Network RF</a:t>
            </a:r>
          </a:p>
          <a:p>
            <a:pPr algn="ctr">
              <a:defRPr sz="1100"/>
            </a:pPr>
            <a:r>
              <a:rPr>
                <a:solidFill>
                  <a:schemeClr val="tx1"/>
                </a:solidFill>
              </a:rPr>
              <a:t>Radio RF</a:t>
            </a:r>
          </a:p>
          <a:p>
            <a:pPr algn="ctr">
              <a:defRPr sz="1100"/>
            </a:pPr>
            <a:r>
              <a:rPr>
                <a:solidFill>
                  <a:schemeClr val="tx1"/>
                </a:solidFill>
              </a:rPr>
              <a:t>Validation and test</a:t>
            </a:r>
          </a:p>
        </p:txBody>
      </p:sp>
      <p:sp>
        <p:nvSpPr>
          <p:cNvPr id="12" name="Chevron 11"/>
          <p:cNvSpPr/>
          <p:nvPr/>
        </p:nvSpPr>
        <p:spPr>
          <a:xfrm>
            <a:off x="9829800" y="1719072"/>
            <a:ext cx="201168" cy="320040"/>
          </a:xfrm>
          <a:prstGeom prst="chevron">
            <a:avLst/>
          </a:prstGeom>
          <a:solidFill>
            <a:srgbClr val="C0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921240" y="1463040"/>
            <a:ext cx="1828800" cy="914400"/>
          </a:xfrm>
          <a:prstGeom prst="roundRect">
            <a:avLst/>
          </a:prstGeom>
          <a:solidFill>
            <a:srgbClr val="E7EF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>
                <a:solidFill>
                  <a:schemeClr val="tx1"/>
                </a:solidFill>
              </a:rPr>
              <a:t>Results</a:t>
            </a:r>
          </a:p>
          <a:p>
            <a:pPr algn="ctr">
              <a:defRPr sz="1100"/>
            </a:pPr>
            <a:r>
              <a:rPr>
                <a:solidFill>
                  <a:schemeClr val="tx1"/>
                </a:solidFill>
              </a:rPr>
              <a:t>Metrics</a:t>
            </a:r>
          </a:p>
          <a:p>
            <a:pPr algn="ctr">
              <a:defRPr sz="1100"/>
            </a:pPr>
            <a:r>
              <a:rPr>
                <a:solidFill>
                  <a:schemeClr val="tx1"/>
                </a:solidFill>
              </a:rPr>
              <a:t>Confusion matrix</a:t>
            </a:r>
          </a:p>
          <a:p>
            <a:pPr algn="ctr">
              <a:defRPr sz="1100"/>
            </a:pPr>
            <a:r>
              <a:rPr>
                <a:solidFill>
                  <a:schemeClr val="tx1"/>
                </a:solidFill>
              </a:rPr>
              <a:t>Cost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1097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The design separated raw data handling, distributed transformation, and machine learning evaluation.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This structure improved reproducibility and made it easier to show which steps required Big Data tools and which steps required cloud resources.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28250" y="64922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00800"/>
            <a:ext cx="11430000" cy="2743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70903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F4E79"/>
                </a:solidFill>
              </a:rPr>
              <a:t>AWS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2678" y="1130218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2828"/>
                </a:solidFill>
              </a:defRPr>
            </a:pPr>
            <a:r>
              <a:t>Amazon S3 bucket organized into raw, processed, results, and scripts prefixes.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Temporary EC2 instance used only for controlled cloud side ingestion from the dataset source.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EMR Serverless application used for Spark batch jobs without long running clusters.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IAM roles controlled access to S3 and EMR execution.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This design kept costs low while still demonstrating cloud based Big Data processing.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00800"/>
            <a:ext cx="11430000" cy="2743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8-10 215359.png">
            <a:extLst>
              <a:ext uri="{FF2B5EF4-FFF2-40B4-BE49-F238E27FC236}">
                <a16:creationId xmlns:a16="http://schemas.microsoft.com/office/drawing/2014/main" id="{CDBFA629-69F1-F47B-1959-02706597B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36" y="1183874"/>
            <a:ext cx="11287912" cy="449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793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8-10 222535.png">
            <a:extLst>
              <a:ext uri="{FF2B5EF4-FFF2-40B4-BE49-F238E27FC236}">
                <a16:creationId xmlns:a16="http://schemas.microsoft.com/office/drawing/2014/main" id="{4435DA51-5A7D-DD56-2ED5-B685D4BA2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24" y="680720"/>
            <a:ext cx="9819711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665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8-10 215359.png">
            <a:extLst>
              <a:ext uri="{FF2B5EF4-FFF2-40B4-BE49-F238E27FC236}">
                <a16:creationId xmlns:a16="http://schemas.microsoft.com/office/drawing/2014/main" id="{6D820BCD-4B50-9F84-8F45-6DA42D047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75" y="1448385"/>
            <a:ext cx="11040866" cy="439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852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8-10 213255.png">
            <a:extLst>
              <a:ext uri="{FF2B5EF4-FFF2-40B4-BE49-F238E27FC236}">
                <a16:creationId xmlns:a16="http://schemas.microsoft.com/office/drawing/2014/main" id="{E2DD2686-282A-4AD7-FDB5-AAAE42C91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573" y="432620"/>
            <a:ext cx="10534802" cy="515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175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Spark Based Packet Processing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580872"/>
              </p:ext>
            </p:extLst>
          </p:nvPr>
        </p:nvGraphicFramePr>
        <p:xfrm>
          <a:off x="457200" y="1188720"/>
          <a:ext cx="3496564" cy="3309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Input packet CSV files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Input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28,803,972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rPr lang="en-US" dirty="0"/>
                        <a:t>Most packet count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rPr lang="en-US"/>
                        <a:t>DoS_SYN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Clean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28,803,972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Parquet write status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Success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Output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Partitioned Parquet by scenario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Picture 3" descr="packet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691640"/>
            <a:ext cx="3657600" cy="2194560"/>
          </a:xfrm>
          <a:prstGeom prst="rect">
            <a:avLst/>
          </a:prstGeom>
        </p:spPr>
      </p:pic>
      <p:pic>
        <p:nvPicPr>
          <p:cNvPr id="5" name="Picture 4" descr="Screenshot 2026-08-11 1401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408" y="1493881"/>
            <a:ext cx="4265842" cy="23723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0" y="4526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Packet counts by scenario after Spark processing and the final Parquet partitions in S3.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2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Processing this stage in Spark demonstrated the Big Data component of the project. The job read all 35 packet CSV files and wrote curated Parquet outputs by scenario.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00800"/>
            <a:ext cx="11430000" cy="2743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Network Flow Random Forest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2828"/>
                </a:solidFill>
              </a:defRPr>
            </a:pPr>
            <a:r>
              <a:t>Input table: Network_Dataset.csv with 1,723,817 flow records.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Target label: traffic_type (0 = benign, 1 = attack).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Feature preparation: excluded identifiers and label leakage fields; categorical fields were encoded and numeric fields were assembled into vectors.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Split: 70% training, 15% validation, 15% test, with deterministic random splitting.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Two Random Forest candidates were evaluated on the validation split.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Best candidate: 100 trees and maximum depth 12.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92240" y="137160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Candidate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Trees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Depth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Val F1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Val ROC 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0.9869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0.9950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0.9872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0.9956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 descr="Screenshot 2026-08-11 143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817" y="3200400"/>
            <a:ext cx="4318045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46520" y="562356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Successful EMR Serverless job for the network Random Forest experiment.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00800"/>
            <a:ext cx="11430000" cy="2743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Network Flow Model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4114800" cy="3152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13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Train / validation / test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1,206,950 / 258,144 / 258,723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97.66%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Attack precision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98.14%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Attack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99.29%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Attack F1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98.71%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13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ROC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0.9956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Picture 3" descr="network_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04109"/>
            <a:ext cx="3383280" cy="30610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2801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TN = 21,147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FP = 4,395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FN = 1,653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TP = 231,528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The model strongly recognized attack traffic, with high recall and strong overall separation.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Final test results for the network flow classifier.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00800"/>
            <a:ext cx="11430000" cy="2743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Radio Telemetry Random Forest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4114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13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C050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C050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Train / validation / test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31,829 / 6,707 / 6,708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98.90%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Attack precision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98.77%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Attack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99.81%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Attack F1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99.29%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13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ROC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0.9990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Picture 3" descr="radio_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04109"/>
            <a:ext cx="3383280" cy="30610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49640" y="1280160"/>
            <a:ext cx="3063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Best validation candidate: 100 trees, depth 12.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TN = 1,486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FP = 64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FN = 10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TP = 5,148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Radio features achieved excellent discrimination.</a:t>
            </a:r>
          </a:p>
        </p:txBody>
      </p:sp>
      <p:pic>
        <p:nvPicPr>
          <p:cNvPr id="6" name="Picture 5" descr="Screenshot 2026-08-11 1442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172" y="4572000"/>
            <a:ext cx="3151096" cy="1645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128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00800"/>
            <a:ext cx="11430000" cy="2743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Comparison and Discussion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852160" cy="36576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92240" y="1234440"/>
          <a:ext cx="5120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Network RF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Radio RF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Input size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1,723,817 rows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45,244 rows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Best 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100 trees, depth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100 trees, depth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97.66%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98.90%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Attack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98.71%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99.29%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Job logic time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197.4 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37.4 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37960" y="43434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Both modalities worked well, but the radio features achieved slightly stronger final scores in this binary setting.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The packet processing stage was the main Big Data stage, while the final ML stages used the structured network and radio tables.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00800"/>
            <a:ext cx="11430000" cy="2743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Cost and Practical 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2828"/>
                </a:solidFill>
              </a:defRPr>
            </a:pPr>
            <a:r>
              <a:t>The cloud portion was completed with very low spending.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Final billing screenshot showed about $0.65 estimated usage and $119.35 estimated credit remaining.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EMR Serverless reduced management overhead because no long running Spark cluster had to be maintained.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Using a temporary EC2 instance only for ingestion helped control costs.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S3 provided persistent storage for raw data, Parquet outputs, scripts, and final metrics.</a:t>
            </a:r>
          </a:p>
        </p:txBody>
      </p:sp>
      <p:pic>
        <p:nvPicPr>
          <p:cNvPr id="4" name="Picture 3" descr="Screenshot 2026-08-11 1445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986746"/>
            <a:ext cx="5669280" cy="2610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5623560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Billing and credit usage at the end of the experiments.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00800"/>
            <a:ext cx="11430000" cy="2743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Conclusion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82828"/>
                </a:solidFill>
              </a:defRPr>
            </a:pPr>
            <a:r>
              <a:t>The project successfully demonstrated a complete cloud based Big Data pipeline for a real 5G O RAN security dataset.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Spark was used to process the largest structured packet collection and to convert it into Parquet for scalable analytics.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The network flow Random Forest reached 97.66% accuracy and 98.71% attack F1 on the full test split.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The radio Random Forest reached 98.90% accuracy and 99.29% attack F1 on the full test split.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The AWS workflow remained inexpensive and reproducible.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Future work: cross layer aligned modeling, more detailed multiclass detection, time aware evaluation, and comparison with deep learning models.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4E79"/>
                </a:solidFill>
              </a:defRPr>
            </a:pPr>
            <a:r>
              <a:t>Thank you</a:t>
            </a:r>
          </a:p>
          <a:p>
            <a:pPr algn="ctr">
              <a:defRPr sz="1400">
                <a:solidFill>
                  <a:srgbClr val="646464"/>
                </a:solidFill>
              </a:defRPr>
            </a:pPr>
            <a:r>
              <a:t>Full references and detailed discussion are available in the final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00800"/>
            <a:ext cx="11430000" cy="2743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1407</Words>
  <Application>Microsoft Office PowerPoint</Application>
  <PresentationFormat>Widescreen</PresentationFormat>
  <Paragraphs>253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Alireza Eslamikhah</cp:lastModifiedBy>
  <cp:revision>7</cp:revision>
  <dcterms:created xsi:type="dcterms:W3CDTF">2013-01-27T09:14:16Z</dcterms:created>
  <dcterms:modified xsi:type="dcterms:W3CDTF">2026-08-18T04:13:10Z</dcterms:modified>
  <cp:category/>
</cp:coreProperties>
</file>